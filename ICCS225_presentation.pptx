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406ee01b5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406ee01b5_1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4065058c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a4065058cf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406ee01b5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a406ee01b5_1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4065058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a4065058c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4065058c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a4065058cf_0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4065058c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a4065058cf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4065058c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a4065058c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4065058c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a4065058cf_0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406ee01b5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a406ee01b5_1_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406ee01b5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a406ee01b5_1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406ee01b5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a406ee01b5_1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6FA8D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FA8DC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457200" y="43200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">
                <a:solidFill>
                  <a:schemeClr val="lt2"/>
                </a:solidFill>
              </a:rPr>
              <a:t>Project Overview</a:t>
            </a:r>
            <a:endParaRPr b="1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">
                <a:solidFill>
                  <a:schemeClr val="lt2"/>
                </a:solidFill>
              </a:rPr>
              <a:t>(Music school platform)</a:t>
            </a:r>
            <a:endParaRPr b="1">
              <a:solidFill>
                <a:schemeClr val="lt2"/>
              </a:solidFill>
            </a:endParaRPr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1520200" y="1528300"/>
            <a:ext cx="3852000" cy="18243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sz="3200"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Main functions,</a:t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 UI design, </a:t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triggers, constraints</a:t>
            </a:r>
            <a:endParaRPr/>
          </a:p>
        </p:txBody>
      </p:sp>
      <p:sp>
        <p:nvSpPr>
          <p:cNvPr id="131" name="Google Shape;131;p25"/>
          <p:cNvSpPr txBox="1"/>
          <p:nvPr/>
        </p:nvSpPr>
        <p:spPr>
          <a:xfrm>
            <a:off x="4103400" y="4469125"/>
            <a:ext cx="61491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Presented by: Kalyaporn Theppunkulngam 6580863</a:t>
            </a:r>
            <a:endParaRPr sz="18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5372100" y="1528300"/>
            <a:ext cx="2470200" cy="1824300"/>
          </a:xfrm>
          <a:prstGeom prst="rect">
            <a:avLst/>
          </a:prstGeom>
          <a:solidFill>
            <a:srgbClr val="F6B26B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sz="3200"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Data security</a:t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 normalizaton</a:t>
            </a:r>
            <a:endParaRPr sz="1800"/>
          </a:p>
          <a:p>
            <a:pPr indent="0" lvl="0" marL="3429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1031875" y="0"/>
            <a:ext cx="72690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/>
              <a:t>Main Functions -&gt; ER design 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457200" y="3737250"/>
            <a:ext cx="1270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8888" y="757125"/>
            <a:ext cx="5766236" cy="421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</a:t>
            </a:r>
            <a:r>
              <a:rPr lang="en"/>
              <a:t>Functions -&gt; Core UI Features</a:t>
            </a:r>
            <a:endParaRPr/>
          </a:p>
        </p:txBody>
      </p:sp>
      <p:sp>
        <p:nvSpPr>
          <p:cNvPr id="145" name="Google Shape;145;p27"/>
          <p:cNvSpPr txBox="1"/>
          <p:nvPr>
            <p:ph idx="1" type="body"/>
          </p:nvPr>
        </p:nvSpPr>
        <p:spPr>
          <a:xfrm>
            <a:off x="1857100" y="1063225"/>
            <a:ext cx="21684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- STUDENT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- INSTRUCTOR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- COURSE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- ROOM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- BOOKING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- PAYMENT</a:t>
            </a:r>
            <a:endParaRPr/>
          </a:p>
        </p:txBody>
      </p:sp>
      <p:sp>
        <p:nvSpPr>
          <p:cNvPr id="146" name="Google Shape;146;p27"/>
          <p:cNvSpPr txBox="1"/>
          <p:nvPr/>
        </p:nvSpPr>
        <p:spPr>
          <a:xfrm>
            <a:off x="5686800" y="1214575"/>
            <a:ext cx="3000000" cy="22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Login page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Dashboard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Booking/ reschedule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Lesson Details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Student’s profile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27"/>
          <p:cNvCxnSpPr/>
          <p:nvPr/>
        </p:nvCxnSpPr>
        <p:spPr>
          <a:xfrm>
            <a:off x="4738450" y="1115275"/>
            <a:ext cx="43200" cy="3714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8" title="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200" y="79201"/>
            <a:ext cx="2303350" cy="4985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8"/>
          <p:cNvSpPr txBox="1"/>
          <p:nvPr>
            <p:ph type="title"/>
          </p:nvPr>
        </p:nvSpPr>
        <p:spPr>
          <a:xfrm>
            <a:off x="3476400" y="254175"/>
            <a:ext cx="3990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LOGIN Page</a:t>
            </a:r>
            <a:endParaRPr/>
          </a:p>
        </p:txBody>
      </p:sp>
      <p:pic>
        <p:nvPicPr>
          <p:cNvPr id="154" name="Google Shape;15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30388" y="2862349"/>
            <a:ext cx="3455775" cy="768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8"/>
          <p:cNvSpPr txBox="1"/>
          <p:nvPr>
            <p:ph type="title"/>
          </p:nvPr>
        </p:nvSpPr>
        <p:spPr>
          <a:xfrm>
            <a:off x="2877975" y="1335200"/>
            <a:ext cx="40695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000" u="sng">
                <a:solidFill>
                  <a:schemeClr val="lt1"/>
                </a:solidFill>
              </a:rPr>
              <a:t>Call: fn_login(email, password_hash)</a:t>
            </a:r>
            <a:endParaRPr sz="2000" u="sng">
              <a:solidFill>
                <a:schemeClr val="lt1"/>
              </a:solidFill>
            </a:endParaRPr>
          </a:p>
        </p:txBody>
      </p:sp>
      <p:sp>
        <p:nvSpPr>
          <p:cNvPr id="156" name="Google Shape;156;p28"/>
          <p:cNvSpPr txBox="1"/>
          <p:nvPr>
            <p:ph type="title"/>
          </p:nvPr>
        </p:nvSpPr>
        <p:spPr>
          <a:xfrm>
            <a:off x="2355863" y="2084425"/>
            <a:ext cx="48048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" sz="1600">
                <a:solidFill>
                  <a:schemeClr val="lt1"/>
                </a:solidFill>
              </a:rPr>
              <a:t>On success → navigate to Dashboard Page</a:t>
            </a:r>
            <a:endParaRPr sz="16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60"/>
              <a:buFont typeface="Calibri"/>
              <a:buNone/>
            </a:pPr>
            <a:r>
              <a:rPr lang="en" sz="1600">
                <a:solidFill>
                  <a:schemeClr val="lt1"/>
                </a:solidFill>
              </a:rPr>
              <a:t>Output: user_id, role, full_name 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9" title="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3375" y="152725"/>
            <a:ext cx="2250300" cy="487019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9"/>
          <p:cNvSpPr txBox="1"/>
          <p:nvPr>
            <p:ph type="title"/>
          </p:nvPr>
        </p:nvSpPr>
        <p:spPr>
          <a:xfrm>
            <a:off x="522475" y="242150"/>
            <a:ext cx="5039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/>
              <a:t>Home/ Dashboard Page</a:t>
            </a:r>
            <a:endParaRPr/>
          </a:p>
        </p:txBody>
      </p:sp>
      <p:sp>
        <p:nvSpPr>
          <p:cNvPr id="163" name="Google Shape;163;p29"/>
          <p:cNvSpPr txBox="1"/>
          <p:nvPr>
            <p:ph type="title"/>
          </p:nvPr>
        </p:nvSpPr>
        <p:spPr>
          <a:xfrm>
            <a:off x="289200" y="986575"/>
            <a:ext cx="53448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000" u="sng">
                <a:solidFill>
                  <a:schemeClr val="lt1"/>
                </a:solidFill>
              </a:rPr>
              <a:t>Call: fn_get_upcoming_lessons(student_id)</a:t>
            </a:r>
            <a:endParaRPr sz="2000" u="sng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000" u="sng">
                <a:solidFill>
                  <a:schemeClr val="lt1"/>
                </a:solidFill>
              </a:rPr>
              <a:t>fn_get_lesson_history(student_id)</a:t>
            </a:r>
            <a:endParaRPr sz="2000" u="sng">
              <a:solidFill>
                <a:schemeClr val="lt1"/>
              </a:solidFill>
            </a:endParaRPr>
          </a:p>
        </p:txBody>
      </p:sp>
      <p:pic>
        <p:nvPicPr>
          <p:cNvPr id="164" name="Google Shape;16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475" y="1843975"/>
            <a:ext cx="3777226" cy="15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2474" y="3567425"/>
            <a:ext cx="2646969" cy="132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9"/>
          <p:cNvSpPr/>
          <p:nvPr/>
        </p:nvSpPr>
        <p:spPr>
          <a:xfrm rot="-1472321">
            <a:off x="3854514" y="1752439"/>
            <a:ext cx="2853308" cy="44824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9"/>
          <p:cNvSpPr/>
          <p:nvPr/>
        </p:nvSpPr>
        <p:spPr>
          <a:xfrm rot="-567494">
            <a:off x="2985784" y="3647917"/>
            <a:ext cx="3448581" cy="4483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0" title="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23573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0"/>
          <p:cNvSpPr txBox="1"/>
          <p:nvPr>
            <p:ph type="title"/>
          </p:nvPr>
        </p:nvSpPr>
        <p:spPr>
          <a:xfrm>
            <a:off x="3018250" y="435050"/>
            <a:ext cx="5232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/>
              <a:t>Booking + Reschedule Page</a:t>
            </a:r>
            <a:endParaRPr/>
          </a:p>
        </p:txBody>
      </p:sp>
      <p:sp>
        <p:nvSpPr>
          <p:cNvPr id="174" name="Google Shape;174;p30"/>
          <p:cNvSpPr txBox="1"/>
          <p:nvPr>
            <p:ph type="title"/>
          </p:nvPr>
        </p:nvSpPr>
        <p:spPr>
          <a:xfrm>
            <a:off x="2453700" y="3170750"/>
            <a:ext cx="42366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Calibri"/>
              <a:buNone/>
            </a:pPr>
            <a:r>
              <a:rPr lang="en" sz="2000" u="sng">
                <a:solidFill>
                  <a:schemeClr val="lt1"/>
                </a:solidFill>
              </a:rPr>
              <a:t>Call: fn_get_available_times(date)</a:t>
            </a:r>
            <a:endParaRPr sz="2000" u="sng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Calibri"/>
              <a:buNone/>
            </a:pPr>
            <a:r>
              <a:rPr lang="en" sz="2000" u="sng">
                <a:solidFill>
                  <a:schemeClr val="lt1"/>
                </a:solidFill>
              </a:rPr>
              <a:t>o</a:t>
            </a:r>
            <a:r>
              <a:rPr lang="en" sz="2000" u="sng">
                <a:solidFill>
                  <a:schemeClr val="lt1"/>
                </a:solidFill>
              </a:rPr>
              <a:t>utput : boolean value ‘available’ or ‘full’</a:t>
            </a:r>
            <a:endParaRPr sz="2000" u="sng">
              <a:solidFill>
                <a:schemeClr val="lt1"/>
              </a:solidFill>
            </a:endParaRPr>
          </a:p>
        </p:txBody>
      </p:sp>
      <p:sp>
        <p:nvSpPr>
          <p:cNvPr id="175" name="Google Shape;175;p30"/>
          <p:cNvSpPr txBox="1"/>
          <p:nvPr>
            <p:ph type="title"/>
          </p:nvPr>
        </p:nvSpPr>
        <p:spPr>
          <a:xfrm>
            <a:off x="2388150" y="4283000"/>
            <a:ext cx="54594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Calibri"/>
              <a:buNone/>
            </a:pPr>
            <a:r>
              <a:rPr lang="en" sz="2000" u="sng">
                <a:solidFill>
                  <a:schemeClr val="lt1"/>
                </a:solidFill>
              </a:rPr>
              <a:t>Call: fn_get_available_rooms(start_time, end_time)</a:t>
            </a:r>
            <a:endParaRPr sz="2000" u="sng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Calibri"/>
              <a:buNone/>
            </a:pPr>
            <a:r>
              <a:rPr lang="en" sz="2000" u="sng">
                <a:solidFill>
                  <a:schemeClr val="lt1"/>
                </a:solidFill>
              </a:rPr>
              <a:t>Output: room list that is not booked yet</a:t>
            </a:r>
            <a:endParaRPr sz="2000" u="sng">
              <a:solidFill>
                <a:schemeClr val="lt1"/>
              </a:solidFill>
            </a:endParaRPr>
          </a:p>
        </p:txBody>
      </p:sp>
      <p:sp>
        <p:nvSpPr>
          <p:cNvPr id="176" name="Google Shape;176;p30"/>
          <p:cNvSpPr txBox="1"/>
          <p:nvPr>
            <p:ph type="title"/>
          </p:nvPr>
        </p:nvSpPr>
        <p:spPr>
          <a:xfrm>
            <a:off x="2388150" y="1512125"/>
            <a:ext cx="59175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Calibri"/>
              <a:buNone/>
            </a:pPr>
            <a:r>
              <a:rPr lang="en" sz="2000" u="sng">
                <a:solidFill>
                  <a:schemeClr val="lt1"/>
                </a:solidFill>
              </a:rPr>
              <a:t>Call (constraint): fn_reschedule_booking(booking_id, new_start, new_end, room_id)</a:t>
            </a:r>
            <a:endParaRPr sz="2000" u="sng">
              <a:solidFill>
                <a:schemeClr val="lt1"/>
              </a:solidFill>
            </a:endParaRPr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1473" y="2228338"/>
            <a:ext cx="4372740" cy="8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0"/>
          <p:cNvSpPr/>
          <p:nvPr/>
        </p:nvSpPr>
        <p:spPr>
          <a:xfrm rot="-9931939">
            <a:off x="2538388" y="1067167"/>
            <a:ext cx="2058167" cy="322409"/>
          </a:xfrm>
          <a:prstGeom prst="rightArrow">
            <a:avLst>
              <a:gd fmla="val 50000" name="adj1"/>
              <a:gd fmla="val 45153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1" title="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2875" y="152400"/>
            <a:ext cx="223573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1"/>
          <p:cNvSpPr txBox="1"/>
          <p:nvPr>
            <p:ph type="title"/>
          </p:nvPr>
        </p:nvSpPr>
        <p:spPr>
          <a:xfrm>
            <a:off x="534525" y="326550"/>
            <a:ext cx="5280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Lesson Details Page</a:t>
            </a:r>
            <a:endParaRPr/>
          </a:p>
        </p:txBody>
      </p:sp>
      <p:sp>
        <p:nvSpPr>
          <p:cNvPr id="185" name="Google Shape;185;p31"/>
          <p:cNvSpPr txBox="1"/>
          <p:nvPr>
            <p:ph type="title"/>
          </p:nvPr>
        </p:nvSpPr>
        <p:spPr>
          <a:xfrm>
            <a:off x="612325" y="1302300"/>
            <a:ext cx="52809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Calibri"/>
              <a:buNone/>
            </a:pPr>
            <a:r>
              <a:rPr lang="en" sz="2000" u="sng">
                <a:solidFill>
                  <a:schemeClr val="lt1"/>
                </a:solidFill>
              </a:rPr>
              <a:t>Call: fn_get_lesson_details(booking_id)</a:t>
            </a:r>
            <a:endParaRPr sz="2000" u="sng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Calibri"/>
              <a:buNone/>
            </a:pPr>
            <a:r>
              <a:rPr lang="en" sz="2000" u="sng">
                <a:solidFill>
                  <a:schemeClr val="lt1"/>
                </a:solidFill>
              </a:rPr>
              <a:t>output : (coursename, instructor, room, date/time)</a:t>
            </a:r>
            <a:endParaRPr sz="2000" u="sng">
              <a:solidFill>
                <a:schemeClr val="lt1"/>
              </a:solidFill>
            </a:endParaRPr>
          </a:p>
        </p:txBody>
      </p:sp>
      <p:sp>
        <p:nvSpPr>
          <p:cNvPr id="186" name="Google Shape;186;p31"/>
          <p:cNvSpPr txBox="1"/>
          <p:nvPr>
            <p:ph type="title"/>
          </p:nvPr>
        </p:nvSpPr>
        <p:spPr>
          <a:xfrm>
            <a:off x="534525" y="2163475"/>
            <a:ext cx="52809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Calibri"/>
              <a:buNone/>
            </a:pPr>
            <a:r>
              <a:rPr lang="en" sz="2000" u="sng">
                <a:solidFill>
                  <a:schemeClr val="lt1"/>
                </a:solidFill>
              </a:rPr>
              <a:t>Call: get_courses_materials(course_id, student_id)</a:t>
            </a:r>
            <a:endParaRPr sz="2000" u="sng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Calibri"/>
              <a:buNone/>
            </a:pPr>
            <a:r>
              <a:rPr lang="en" sz="2000" u="sng">
                <a:solidFill>
                  <a:schemeClr val="lt1"/>
                </a:solidFill>
              </a:rPr>
              <a:t>output : title,url, file type  </a:t>
            </a:r>
            <a:endParaRPr sz="2000" u="sng">
              <a:solidFill>
                <a:schemeClr val="lt1"/>
              </a:solidFill>
            </a:endParaRPr>
          </a:p>
        </p:txBody>
      </p:sp>
      <p:pic>
        <p:nvPicPr>
          <p:cNvPr id="187" name="Google Shape;18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7400" y="2916075"/>
            <a:ext cx="4442250" cy="109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1"/>
          <p:cNvSpPr/>
          <p:nvPr/>
        </p:nvSpPr>
        <p:spPr>
          <a:xfrm>
            <a:off x="5639650" y="1312650"/>
            <a:ext cx="758700" cy="4683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32" title="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1775" y="152400"/>
            <a:ext cx="223573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2"/>
          <p:cNvSpPr txBox="1"/>
          <p:nvPr>
            <p:ph type="title"/>
          </p:nvPr>
        </p:nvSpPr>
        <p:spPr>
          <a:xfrm>
            <a:off x="3199125" y="242125"/>
            <a:ext cx="5150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Student’s Profile Page </a:t>
            </a:r>
            <a:endParaRPr/>
          </a:p>
        </p:txBody>
      </p:sp>
      <p:sp>
        <p:nvSpPr>
          <p:cNvPr id="195" name="Google Shape;195;p32"/>
          <p:cNvSpPr txBox="1"/>
          <p:nvPr>
            <p:ph type="title"/>
          </p:nvPr>
        </p:nvSpPr>
        <p:spPr>
          <a:xfrm>
            <a:off x="2584825" y="1291700"/>
            <a:ext cx="52809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Calibri"/>
              <a:buNone/>
            </a:pPr>
            <a:r>
              <a:rPr lang="en" sz="2000" u="sng">
                <a:solidFill>
                  <a:schemeClr val="lt1"/>
                </a:solidFill>
              </a:rPr>
              <a:t>Call: fn_get_student_profiles(student_id)</a:t>
            </a:r>
            <a:endParaRPr sz="2000" u="sng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Calibri"/>
              <a:buNone/>
            </a:pPr>
            <a:r>
              <a:rPr lang="en" sz="2000" u="sng">
                <a:solidFill>
                  <a:schemeClr val="lt1"/>
                </a:solidFill>
              </a:rPr>
              <a:t>output : full name, email, payment status</a:t>
            </a:r>
            <a:endParaRPr sz="2000" u="sng">
              <a:solidFill>
                <a:schemeClr val="lt1"/>
              </a:solidFill>
            </a:endParaRPr>
          </a:p>
        </p:txBody>
      </p:sp>
      <p:pic>
        <p:nvPicPr>
          <p:cNvPr id="196" name="Google Shape;19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1600" y="2152000"/>
            <a:ext cx="5127657" cy="63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/>
              <a:t>Normalization (3F)</a:t>
            </a:r>
            <a:endParaRPr/>
          </a:p>
        </p:txBody>
      </p:sp>
      <p:sp>
        <p:nvSpPr>
          <p:cNvPr id="202" name="Google Shape;202;p3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Entries list such as musical instruments has been split</a:t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No partial dependency: </a:t>
            </a:r>
            <a:r>
              <a:rPr lang="en" sz="1800"/>
              <a:t>function</a:t>
            </a:r>
            <a:r>
              <a:rPr lang="en" sz="1800"/>
              <a:t> does not storing data repeatedly</a:t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" sz="1800"/>
              <a:t>No transitive dependencies: all non-keys depend only one key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Triggers &amp; Constraints (</a:t>
            </a:r>
            <a:r>
              <a:rPr lang="en"/>
              <a:t>Data Integrity)</a:t>
            </a:r>
            <a:endParaRPr/>
          </a:p>
        </p:txBody>
      </p:sp>
      <p:sp>
        <p:nvSpPr>
          <p:cNvPr id="208" name="Google Shape;208;p34"/>
          <p:cNvSpPr txBox="1"/>
          <p:nvPr>
            <p:ph idx="1" type="body"/>
          </p:nvPr>
        </p:nvSpPr>
        <p:spPr>
          <a:xfrm>
            <a:off x="457200" y="1063225"/>
            <a:ext cx="38535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Prevent double booking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Prevent booking &lt;2 hours before class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Auto-update lesson status </a:t>
            </a:r>
            <a:endParaRPr/>
          </a:p>
        </p:txBody>
      </p:sp>
      <p:pic>
        <p:nvPicPr>
          <p:cNvPr id="209" name="Google Shape;20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63225"/>
            <a:ext cx="4249917" cy="3927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4"/>
          <p:cNvSpPr txBox="1"/>
          <p:nvPr>
            <p:ph idx="1" type="body"/>
          </p:nvPr>
        </p:nvSpPr>
        <p:spPr>
          <a:xfrm>
            <a:off x="457200" y="3047375"/>
            <a:ext cx="38535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Example constraint: </a:t>
            </a:r>
            <a:r>
              <a:rPr lang="en" sz="1800"/>
              <a:t>foreign</a:t>
            </a:r>
            <a:r>
              <a:rPr lang="en" sz="1800"/>
              <a:t> keys -&gt; every booking must be valid student/ couse/ room/ instructor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Security</a:t>
            </a:r>
            <a:endParaRPr/>
          </a:p>
        </p:txBody>
      </p:sp>
      <p:sp>
        <p:nvSpPr>
          <p:cNvPr id="216" name="Google Shape;216;p3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Password hashing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Role-based access (student vs admin)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" sz="1800"/>
              <a:t>Transactional consistency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